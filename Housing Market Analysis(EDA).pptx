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9" r:id="rId12"/>
    <p:sldId id="270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12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539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467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105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97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28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9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86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706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14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670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6585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968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968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710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240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221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4D8E027-EBB6-40E7-A8F2-D830846001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8736C-22DE-4040-AABD-E4FA4D3A9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420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4BCF-1ACF-6C5C-E2B9-5E684DBB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979" y="972312"/>
            <a:ext cx="8825658" cy="3329581"/>
          </a:xfrm>
        </p:spPr>
        <p:txBody>
          <a:bodyPr/>
          <a:lstStyle/>
          <a:p>
            <a:pPr algn="ctr"/>
            <a:r>
              <a:rPr lang="en-IN" dirty="0"/>
              <a:t>Housing Market Analysis(EDA)</a:t>
            </a:r>
          </a:p>
        </p:txBody>
      </p:sp>
    </p:spTree>
    <p:extLst>
      <p:ext uri="{BB962C8B-B14F-4D97-AF65-F5344CB8AC3E}">
        <p14:creationId xmlns:p14="http://schemas.microsoft.com/office/powerpoint/2010/main" val="1595634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06459-8CBD-1774-B54E-7482BAF0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567" y="434430"/>
            <a:ext cx="1236018" cy="662850"/>
          </a:xfrm>
        </p:spPr>
        <p:txBody>
          <a:bodyPr>
            <a:normAutofit/>
          </a:bodyPr>
          <a:lstStyle/>
          <a:p>
            <a:pPr algn="ctr"/>
            <a:r>
              <a:rPr lang="en-IN" sz="2800" b="1" u="sng" dirty="0">
                <a:latin typeface="+mn-lt"/>
                <a:cs typeface="Times New Roman" panose="02020603050405020304" pitchFamily="18" charset="0"/>
              </a:rPr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E3C1A-8B10-7D69-35C9-6A48741FE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54005" y="2400407"/>
            <a:ext cx="3229291" cy="197590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Loading the Data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Cleaning the Data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Univariate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Feature Engineering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9182E-6576-671C-6A67-63CFB4C38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86400" y="2400407"/>
            <a:ext cx="4882896" cy="1975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5. Multivariate Analysis</a:t>
            </a:r>
          </a:p>
          <a:p>
            <a:pPr marL="0" indent="0">
              <a:buNone/>
            </a:pPr>
            <a:r>
              <a:rPr lang="en-IN" dirty="0"/>
              <a:t>6. </a:t>
            </a:r>
            <a:r>
              <a:rPr lang="en-US" dirty="0"/>
              <a:t>Feature Engineering and Size Impact</a:t>
            </a:r>
          </a:p>
          <a:p>
            <a:pPr marL="0" indent="0">
              <a:buNone/>
            </a:pPr>
            <a:r>
              <a:rPr lang="en-US" dirty="0"/>
              <a:t>7. Market Trends and Historical Pricing:</a:t>
            </a:r>
          </a:p>
          <a:p>
            <a:pPr marL="0" indent="0">
              <a:buNone/>
            </a:pPr>
            <a:r>
              <a:rPr lang="en-IN" dirty="0"/>
              <a:t>8. Customer Preferences and Amenities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52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8D22-3A26-521A-9477-01C1A07623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74828" y="200787"/>
            <a:ext cx="5244084" cy="566737"/>
          </a:xfrm>
        </p:spPr>
        <p:txBody>
          <a:bodyPr>
            <a:noAutofit/>
          </a:bodyPr>
          <a:lstStyle/>
          <a:p>
            <a:pPr algn="ctr"/>
            <a:r>
              <a:rPr lang="en-IN" sz="2800" b="1" u="sng" dirty="0"/>
              <a:t>Import and Loading the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BC6002-4C23-D1C1-810B-FE35BBFB495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699224" y="1096454"/>
            <a:ext cx="5119688" cy="1628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1DDC1B-63B1-F509-5C36-9568377DDF59}"/>
              </a:ext>
            </a:extLst>
          </p:cNvPr>
          <p:cNvSpPr txBox="1"/>
          <p:nvPr/>
        </p:nvSpPr>
        <p:spPr>
          <a:xfrm>
            <a:off x="941832" y="2816352"/>
            <a:ext cx="1063447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Pandas : </a:t>
            </a:r>
            <a:r>
              <a:rPr lang="en-US" sz="2000" dirty="0"/>
              <a:t>Core library for </a:t>
            </a:r>
            <a:r>
              <a:rPr lang="en-US" sz="2000" b="1" dirty="0"/>
              <a:t>data cleaning and manipulation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NumPy : </a:t>
            </a:r>
            <a:r>
              <a:rPr lang="en-US" sz="2000" dirty="0"/>
              <a:t>Used for detecting numeric columns and computing </a:t>
            </a:r>
            <a:r>
              <a:rPr lang="en-US" sz="2000" b="1" dirty="0"/>
              <a:t>median</a:t>
            </a:r>
            <a:r>
              <a:rPr lang="en-US" sz="2000" dirty="0"/>
              <a:t> for missing-value filling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Matplotlib : </a:t>
            </a:r>
            <a:r>
              <a:rPr lang="en-US" sz="2000" dirty="0"/>
              <a:t>It controls figure size, labels, titles, and rendering of plots.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seaborn :</a:t>
            </a:r>
            <a:r>
              <a:rPr lang="en-US" sz="2000" dirty="0"/>
              <a:t>Seaborn is built on top of Matplotlib and is used for </a:t>
            </a:r>
            <a:r>
              <a:rPr lang="en-US" sz="2000" b="1" dirty="0"/>
              <a:t>statistical data visualization</a:t>
            </a:r>
            <a:r>
              <a:rPr lang="en-US" sz="2000" dirty="0"/>
              <a:t>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422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664C9D-191B-0869-9DFF-2F5BA34CC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711" y="427321"/>
            <a:ext cx="10515600" cy="494411"/>
          </a:xfrm>
        </p:spPr>
        <p:txBody>
          <a:bodyPr>
            <a:noAutofit/>
          </a:bodyPr>
          <a:lstStyle/>
          <a:p>
            <a:pPr algn="ctr"/>
            <a:r>
              <a:rPr lang="en-IN" sz="2800" b="1" u="sng" dirty="0"/>
              <a:t>Import and Loading the Data</a:t>
            </a:r>
            <a:endParaRPr lang="en-IN" sz="2800" u="sng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3BA188-8661-E7B9-70D7-63E7D5480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1" y="2514600"/>
            <a:ext cx="4396339" cy="3741738"/>
          </a:xfrm>
        </p:spPr>
        <p:txBody>
          <a:bodyPr>
            <a:normAutofit/>
          </a:bodyPr>
          <a:lstStyle/>
          <a:p>
            <a:r>
              <a:rPr lang="en-US" sz="2000" b="1" dirty="0"/>
              <a:t>What this line does</a:t>
            </a:r>
          </a:p>
          <a:p>
            <a:pPr marL="0" indent="0">
              <a:buNone/>
            </a:pPr>
            <a:r>
              <a:rPr lang="en-US" sz="2000" dirty="0"/>
              <a:t>It tells </a:t>
            </a:r>
            <a:r>
              <a:rPr lang="en-US" sz="2000" b="1" dirty="0"/>
              <a:t>Seaborn</a:t>
            </a:r>
            <a:r>
              <a:rPr lang="en-US" sz="2000" dirty="0"/>
              <a:t> to use a </a:t>
            </a:r>
            <a:r>
              <a:rPr lang="en-US" sz="2000" b="1" dirty="0"/>
              <a:t>white background with grid lines</a:t>
            </a:r>
            <a:r>
              <a:rPr lang="en-US" sz="2000" dirty="0"/>
              <a:t> for all plots.</a:t>
            </a:r>
          </a:p>
          <a:p>
            <a:pPr marL="0" indent="0">
              <a:buNone/>
            </a:pPr>
            <a:r>
              <a:rPr lang="en-US" sz="2000" dirty="0"/>
              <a:t>It is especially useful in:</a:t>
            </a:r>
          </a:p>
          <a:p>
            <a:pPr marL="0" indent="0">
              <a:buNone/>
            </a:pPr>
            <a:r>
              <a:rPr lang="en-US" sz="2000" dirty="0"/>
              <a:t>Histograms</a:t>
            </a:r>
          </a:p>
          <a:p>
            <a:pPr marL="0" indent="0">
              <a:buNone/>
            </a:pPr>
            <a:r>
              <a:rPr lang="en-US" sz="2000" dirty="0"/>
              <a:t>Scatter plots</a:t>
            </a:r>
          </a:p>
          <a:p>
            <a:pPr marL="0" indent="0">
              <a:buNone/>
            </a:pPr>
            <a:r>
              <a:rPr lang="en-US" sz="2000" dirty="0"/>
              <a:t>Line plots</a:t>
            </a:r>
          </a:p>
          <a:p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8389B82-F5C5-F5D0-64C9-7E665988D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14600"/>
            <a:ext cx="4396339" cy="3741738"/>
          </a:xfrm>
        </p:spPr>
        <p:txBody>
          <a:bodyPr>
            <a:normAutofit/>
          </a:bodyPr>
          <a:lstStyle/>
          <a:p>
            <a:r>
              <a:rPr lang="en-US" sz="2000" b="1" dirty="0"/>
              <a:t>What this line does</a:t>
            </a:r>
          </a:p>
          <a:p>
            <a:pPr marL="0" indent="0">
              <a:buNone/>
            </a:pPr>
            <a:r>
              <a:rPr lang="en-US" sz="2000" dirty="0"/>
              <a:t>This loads your </a:t>
            </a:r>
            <a:r>
              <a:rPr lang="en-US" sz="2000" b="1" dirty="0"/>
              <a:t>housing dataset</a:t>
            </a:r>
            <a:r>
              <a:rPr lang="en-US" sz="2000" dirty="0"/>
              <a:t> from your computer into Python.</a:t>
            </a:r>
          </a:p>
          <a:p>
            <a:pPr marL="0" indent="0">
              <a:buNone/>
            </a:pPr>
            <a:r>
              <a:rPr lang="en-US" sz="2000" dirty="0"/>
              <a:t>pd.read_csv() reads a </a:t>
            </a:r>
            <a:r>
              <a:rPr lang="en-US" sz="2000" b="1" dirty="0"/>
              <a:t>CSV file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result is stored in </a:t>
            </a:r>
            <a:r>
              <a:rPr lang="en-US" sz="2000" b="1" dirty="0"/>
              <a:t>df</a:t>
            </a:r>
            <a:r>
              <a:rPr lang="en-US" sz="2000" dirty="0"/>
              <a:t>, a Pandas DataFrame (table)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4C557B-4405-CC04-C257-96263902A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33957"/>
            <a:ext cx="4915559" cy="4944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CDD2C30-F9A6-8065-E249-5F3B44E34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1" y="1462054"/>
            <a:ext cx="4900921" cy="46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07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52BE4B1-11D9-1E13-33A1-79F1EF4C7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610"/>
            <a:ext cx="10515600" cy="461580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r>
              <a:rPr lang="en-IN" sz="2700" b="1" dirty="0"/>
              <a:t>Cleaning the Data</a:t>
            </a:r>
            <a:br>
              <a:rPr lang="en-IN" sz="2700" dirty="0"/>
            </a:br>
            <a:endParaRPr lang="en-IN" sz="27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C6FE61-AFCE-AD2D-CD71-06997EF56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512" y="2208908"/>
            <a:ext cx="3499104" cy="338569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2400" u="sng" dirty="0" err="1"/>
              <a:t>df.shape</a:t>
            </a:r>
            <a:r>
              <a:rPr lang="en-US" sz="1600" dirty="0"/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/>
              <a:t>shows the </a:t>
            </a:r>
            <a:r>
              <a:rPr lang="en-US" sz="1600" b="1" dirty="0"/>
              <a:t>size of the dataset</a:t>
            </a:r>
            <a:r>
              <a:rPr lang="en-US" sz="1600" dirty="0"/>
              <a:t> in the format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600" b="1" dirty="0"/>
              <a:t>Why this is important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How much data we have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How many variables we are working with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This helps in: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Choosing algorithms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Estimating computation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Understanding data complexity</a:t>
            </a:r>
          </a:p>
          <a:p>
            <a:pPr>
              <a:lnSpc>
                <a:spcPct val="110000"/>
              </a:lnSpc>
            </a:pPr>
            <a:endParaRPr lang="en-IN" sz="1600" dirty="0"/>
          </a:p>
        </p:txBody>
      </p:sp>
      <p:sp>
        <p:nvSpPr>
          <p:cNvPr id="10" name="AutoShape 2" descr="Uploaded image">
            <a:extLst>
              <a:ext uri="{FF2B5EF4-FFF2-40B4-BE49-F238E27FC236}">
                <a16:creationId xmlns:a16="http://schemas.microsoft.com/office/drawing/2014/main" id="{323753E2-4568-D3FA-2EE8-B89D271422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4D33BA-72AB-4710-5120-B010D6211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81" y="760476"/>
            <a:ext cx="5822038" cy="1005840"/>
          </a:xfrm>
          <a:prstGeom prst="rect">
            <a:avLst/>
          </a:prstGeom>
        </p:spPr>
      </p:pic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CCEA29D6-5260-D5C7-9F29-3428D5DD5689}"/>
              </a:ext>
            </a:extLst>
          </p:cNvPr>
          <p:cNvSpPr txBox="1">
            <a:spLocks/>
          </p:cNvSpPr>
          <p:nvPr/>
        </p:nvSpPr>
        <p:spPr>
          <a:xfrm>
            <a:off x="3898392" y="2205414"/>
            <a:ext cx="3843528" cy="2902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IN" sz="2000" b="1" u="sng" dirty="0"/>
              <a:t>print(df.head())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/>
              <a:t>What this line does</a:t>
            </a:r>
          </a:p>
          <a:p>
            <a:pPr>
              <a:lnSpc>
                <a:spcPct val="120000"/>
              </a:lnSpc>
            </a:pPr>
            <a:r>
              <a:rPr lang="en-US" sz="1500" dirty="0"/>
              <a:t>It prints the </a:t>
            </a:r>
            <a:r>
              <a:rPr lang="en-US" sz="1500" b="1" dirty="0"/>
              <a:t>first 5 rows</a:t>
            </a:r>
            <a:r>
              <a:rPr lang="en-US" sz="1500" dirty="0"/>
              <a:t> of the dataset.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/>
              <a:t>Why this is used</a:t>
            </a:r>
          </a:p>
          <a:p>
            <a:pPr>
              <a:lnSpc>
                <a:spcPct val="120000"/>
              </a:lnSpc>
            </a:pPr>
            <a:r>
              <a:rPr lang="en-US" sz="1500" dirty="0"/>
              <a:t>It helps to:</a:t>
            </a:r>
          </a:p>
          <a:p>
            <a:pPr>
              <a:lnSpc>
                <a:spcPct val="120000"/>
              </a:lnSpc>
            </a:pPr>
            <a:r>
              <a:rPr lang="en-US" sz="1500" dirty="0"/>
              <a:t>See how the data looks</a:t>
            </a:r>
          </a:p>
          <a:p>
            <a:pPr>
              <a:lnSpc>
                <a:spcPct val="120000"/>
              </a:lnSpc>
            </a:pPr>
            <a:r>
              <a:rPr lang="en-US" sz="1500" dirty="0"/>
              <a:t>Check column names</a:t>
            </a:r>
          </a:p>
          <a:p>
            <a:pPr>
              <a:lnSpc>
                <a:spcPct val="120000"/>
              </a:lnSpc>
            </a:pPr>
            <a:r>
              <a:rPr lang="en-US" sz="1500" dirty="0"/>
              <a:t>Verify data loaded correctly</a:t>
            </a:r>
          </a:p>
          <a:p>
            <a:pPr>
              <a:lnSpc>
                <a:spcPct val="120000"/>
              </a:lnSpc>
            </a:pPr>
            <a:r>
              <a:rPr lang="en-US" sz="1500" dirty="0"/>
              <a:t>Spot obvious errors (missing, wrong values)</a:t>
            </a:r>
          </a:p>
          <a:p>
            <a:pPr>
              <a:lnSpc>
                <a:spcPct val="120000"/>
              </a:lnSpc>
            </a:pPr>
            <a:endParaRPr lang="en-IN" sz="1500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1501016F-3E0B-14A6-EA20-EE56C864FE83}"/>
              </a:ext>
            </a:extLst>
          </p:cNvPr>
          <p:cNvSpPr txBox="1">
            <a:spLocks/>
          </p:cNvSpPr>
          <p:nvPr/>
        </p:nvSpPr>
        <p:spPr>
          <a:xfrm>
            <a:off x="7854696" y="2205414"/>
            <a:ext cx="3499104" cy="4164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</a:pPr>
            <a:r>
              <a:rPr lang="en-US" sz="2000" b="1" u="sng" dirty="0"/>
              <a:t>print(df.info())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/>
              <a:t>It prints</a:t>
            </a:r>
          </a:p>
          <a:p>
            <a:pPr marL="0">
              <a:lnSpc>
                <a:spcPct val="100000"/>
              </a:lnSpc>
            </a:pPr>
            <a:r>
              <a:rPr lang="en-US" sz="1500" dirty="0"/>
              <a:t>Column names</a:t>
            </a:r>
          </a:p>
          <a:p>
            <a:pPr marL="0">
              <a:lnSpc>
                <a:spcPct val="100000"/>
              </a:lnSpc>
            </a:pPr>
            <a:r>
              <a:rPr lang="en-US" sz="1500" dirty="0"/>
              <a:t>Data types (int, float, object, etc.)</a:t>
            </a:r>
          </a:p>
          <a:p>
            <a:pPr marL="0">
              <a:lnSpc>
                <a:spcPct val="100000"/>
              </a:lnSpc>
            </a:pPr>
            <a:r>
              <a:rPr lang="en-US" sz="1500" dirty="0"/>
              <a:t>Count of non-null values</a:t>
            </a:r>
          </a:p>
          <a:p>
            <a:pPr marL="0">
              <a:lnSpc>
                <a:spcPct val="100000"/>
              </a:lnSpc>
            </a:pPr>
            <a:r>
              <a:rPr lang="en-US" sz="1500" dirty="0"/>
              <a:t>Memory usage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/>
              <a:t>Why this is important</a:t>
            </a:r>
          </a:p>
          <a:p>
            <a:pPr marL="0">
              <a:lnSpc>
                <a:spcPct val="100000"/>
              </a:lnSpc>
            </a:pPr>
            <a:r>
              <a:rPr lang="en-US" sz="1500" dirty="0"/>
              <a:t>Which columns have </a:t>
            </a:r>
            <a:r>
              <a:rPr lang="en-US" sz="1500" b="1" dirty="0"/>
              <a:t>missing values</a:t>
            </a:r>
            <a:endParaRPr lang="en-US" sz="1500" dirty="0"/>
          </a:p>
          <a:p>
            <a:pPr marL="0">
              <a:lnSpc>
                <a:spcPct val="100000"/>
              </a:lnSpc>
            </a:pPr>
            <a:r>
              <a:rPr lang="en-US" sz="1500" dirty="0"/>
              <a:t>Which columns are </a:t>
            </a:r>
            <a:r>
              <a:rPr lang="en-US" sz="1500" b="1" dirty="0"/>
              <a:t>numeric or categorical</a:t>
            </a:r>
            <a:endParaRPr lang="en-US" sz="1500" dirty="0"/>
          </a:p>
          <a:p>
            <a:pPr marL="0">
              <a:lnSpc>
                <a:spcPct val="100000"/>
              </a:lnSpc>
            </a:pPr>
            <a:r>
              <a:rPr lang="en-US" sz="1500" dirty="0"/>
              <a:t>What cleaning or conversion is needed</a:t>
            </a:r>
          </a:p>
          <a:p>
            <a:pPr marL="0">
              <a:lnSpc>
                <a:spcPct val="100000"/>
              </a:lnSpc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97376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167DB-6E28-756B-A330-0D5D4965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325" y="169321"/>
            <a:ext cx="3450403" cy="572545"/>
          </a:xfrm>
        </p:spPr>
        <p:txBody>
          <a:bodyPr/>
          <a:lstStyle/>
          <a:p>
            <a:pPr algn="ctr"/>
            <a:r>
              <a:rPr lang="en-IN" sz="2800" b="1" u="sng" dirty="0"/>
              <a:t>Cleaning the Data</a:t>
            </a:r>
            <a:br>
              <a:rPr lang="en-IN" sz="2800" b="1" u="sng" dirty="0"/>
            </a:br>
            <a:endParaRPr lang="en-IN" sz="28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A3A72-2A69-26E5-0952-764A58DED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63" y="1048576"/>
            <a:ext cx="6156873" cy="89993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732B64A-014D-FEC4-563F-517E93F1F6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3271" y="2180687"/>
            <a:ext cx="8626079" cy="4796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df.select_dtypes</a:t>
            </a: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(include='object')</a:t>
            </a:r>
            <a:endParaRPr kumimoji="0" lang="en-US" altLang="en-U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Selects all columns that contain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or categorical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.columns</a:t>
            </a:r>
            <a:endParaRPr kumimoji="0" lang="en-US" altLang="en-U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Extracts only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 names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selected categorical columns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cat_cols</a:t>
            </a:r>
            <a:endParaRPr kumimoji="0" lang="en-US" altLang="en-U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the names of all categorical columns so they can be processed together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 col in </a:t>
            </a:r>
            <a:r>
              <a:rPr kumimoji="0" lang="en-US" altLang="en-US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cat_cols</a:t>
            </a: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endParaRPr kumimoji="0" lang="en-US" altLang="en-U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Loops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categorical column one by one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</a:t>
            </a: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[col].</a:t>
            </a:r>
            <a:r>
              <a:rPr kumimoji="0" lang="en-US" altLang="en-US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fillna</a:t>
            </a: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("None")</a:t>
            </a:r>
            <a:endParaRPr kumimoji="0" lang="en-US" altLang="en-U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the word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"None"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keeps the dataset consistent and prevents errors during analysis or modeling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843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9B33-70AB-B59E-3CA0-FBF3F54F9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67" y="269838"/>
            <a:ext cx="9404723" cy="553122"/>
          </a:xfrm>
        </p:spPr>
        <p:txBody>
          <a:bodyPr/>
          <a:lstStyle/>
          <a:p>
            <a:pPr algn="ctr"/>
            <a:r>
              <a:rPr lang="en-IN" sz="2800" b="1" u="sng" dirty="0"/>
              <a:t>Univariate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80FBBD-A21A-2528-247E-6D938394D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885"/>
          <a:stretch>
            <a:fillRect/>
          </a:stretch>
        </p:blipFill>
        <p:spPr>
          <a:xfrm>
            <a:off x="2254280" y="1819656"/>
            <a:ext cx="6618352" cy="4922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D86B4D-ED38-1F40-050D-B55822A2E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024" y="1238232"/>
            <a:ext cx="3322608" cy="4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7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B7C1CD5-5DE7-04E7-8D3E-E70E9525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951" y="365107"/>
            <a:ext cx="3650034" cy="525690"/>
          </a:xfrm>
        </p:spPr>
        <p:txBody>
          <a:bodyPr/>
          <a:lstStyle/>
          <a:p>
            <a:pPr algn="ctr"/>
            <a:r>
              <a:rPr lang="en-IN" sz="2800" b="1" u="sng" dirty="0"/>
              <a:t>Feature Engineering</a:t>
            </a:r>
          </a:p>
        </p:txBody>
      </p:sp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FF59B57A-658E-9777-3C59-D0EA719F9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3142" y="3516611"/>
            <a:ext cx="5921237" cy="297628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362BDA6-7DBE-F91E-9494-3A011842F450}"/>
              </a:ext>
            </a:extLst>
          </p:cNvPr>
          <p:cNvSpPr txBox="1">
            <a:spLocks/>
          </p:cNvSpPr>
          <p:nvPr/>
        </p:nvSpPr>
        <p:spPr>
          <a:xfrm>
            <a:off x="134047" y="1298121"/>
            <a:ext cx="5791265" cy="4944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IN" sz="1800" b="1" dirty="0"/>
              <a:t>Price per Square Foot &amp; House Age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endParaRPr lang="en-IN" sz="1800" b="1" dirty="0"/>
          </a:p>
          <a:p>
            <a:pPr algn="ctr"/>
            <a:r>
              <a:rPr lang="en-IN" sz="1800" b="1" dirty="0"/>
              <a:t>    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132550C-5CDD-3B5C-4076-FC0C36208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232" y="2199858"/>
            <a:ext cx="5393472" cy="114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04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10CCC8-89D5-B0F6-8643-45C28387E60D}"/>
              </a:ext>
            </a:extLst>
          </p:cNvPr>
          <p:cNvSpPr txBox="1">
            <a:spLocks/>
          </p:cNvSpPr>
          <p:nvPr/>
        </p:nvSpPr>
        <p:spPr>
          <a:xfrm>
            <a:off x="1173789" y="416142"/>
            <a:ext cx="9404723" cy="8000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2800" b="1" u="sng" dirty="0"/>
              <a:t>Multivariate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1AB48C-F119-3E9E-8F69-F3C0619F2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29" y="2671726"/>
            <a:ext cx="3512586" cy="304057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FFC9E12-F520-A6DF-4B23-505D5DBA3737}"/>
              </a:ext>
            </a:extLst>
          </p:cNvPr>
          <p:cNvSpPr txBox="1">
            <a:spLocks/>
          </p:cNvSpPr>
          <p:nvPr/>
        </p:nvSpPr>
        <p:spPr>
          <a:xfrm>
            <a:off x="380749" y="2220395"/>
            <a:ext cx="3084827" cy="4513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Correlation Matrix &amp; Heatmap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96FE125-FF72-94AD-417F-266724AB1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15" y="2191415"/>
            <a:ext cx="3724532" cy="25464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Living Area vs Sale Price (Scatter Plot)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666DF41-F953-7C32-1F83-2499EA64A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19858" y="2671726"/>
            <a:ext cx="3512586" cy="304057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FD3FA69-FDC1-0162-2B6F-3E219BEE1879}"/>
              </a:ext>
            </a:extLst>
          </p:cNvPr>
          <p:cNvSpPr txBox="1">
            <a:spLocks/>
          </p:cNvSpPr>
          <p:nvPr/>
        </p:nvSpPr>
        <p:spPr>
          <a:xfrm>
            <a:off x="7721166" y="2191415"/>
            <a:ext cx="3925889" cy="3244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Top Features Correlated with Sale Price</a:t>
            </a:r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B5EBBC48-B324-ED8C-41B2-0C7A57E5E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143" y="2671726"/>
            <a:ext cx="3574912" cy="304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8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2C7F6B4A-80FE-154C-F1C1-FF6D6085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933" y="370422"/>
            <a:ext cx="8333297" cy="1400530"/>
          </a:xfrm>
        </p:spPr>
        <p:txBody>
          <a:bodyPr/>
          <a:lstStyle/>
          <a:p>
            <a:pPr algn="ctr"/>
            <a:r>
              <a:rPr lang="en-US" sz="2800" b="1" u="sng" dirty="0"/>
              <a:t>Feature Engineering and Size Impact</a:t>
            </a:r>
            <a:br>
              <a:rPr lang="en-US" sz="2800" b="1" u="sng" dirty="0"/>
            </a:br>
            <a:endParaRPr lang="en-IN" sz="2800" b="1" u="sn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7A901-DB05-2E45-578E-028B233279C8}"/>
              </a:ext>
            </a:extLst>
          </p:cNvPr>
          <p:cNvSpPr txBox="1"/>
          <p:nvPr/>
        </p:nvSpPr>
        <p:spPr>
          <a:xfrm>
            <a:off x="669545" y="2163708"/>
            <a:ext cx="26357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Bedrooms vs Sale Price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98BDD2A-053B-25F9-B8DC-C334EFDD1A01}"/>
              </a:ext>
            </a:extLst>
          </p:cNvPr>
          <p:cNvSpPr txBox="1">
            <a:spLocks/>
          </p:cNvSpPr>
          <p:nvPr/>
        </p:nvSpPr>
        <p:spPr>
          <a:xfrm>
            <a:off x="2694367" y="1819252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FE69BA9-631F-CAAB-C793-CD6EC6F38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31" y="2671726"/>
            <a:ext cx="3512586" cy="304057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23CFC34-02AB-196D-140F-F3E9943E14A8}"/>
              </a:ext>
            </a:extLst>
          </p:cNvPr>
          <p:cNvSpPr txBox="1"/>
          <p:nvPr/>
        </p:nvSpPr>
        <p:spPr>
          <a:xfrm>
            <a:off x="4296149" y="2163709"/>
            <a:ext cx="28049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400" b="1" dirty="0"/>
              <a:t>Bathrooms vs Sale Price</a:t>
            </a:r>
            <a:endParaRPr lang="en-IN" sz="1400" b="1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08AB691-A603-8717-CC76-9520FECA239E}"/>
              </a:ext>
            </a:extLst>
          </p:cNvPr>
          <p:cNvSpPr txBox="1">
            <a:spLocks/>
          </p:cNvSpPr>
          <p:nvPr/>
        </p:nvSpPr>
        <p:spPr>
          <a:xfrm>
            <a:off x="8261680" y="2163708"/>
            <a:ext cx="2753030" cy="3077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Garage Cars vs Sale Price</a:t>
            </a:r>
            <a:endParaRPr lang="en-IN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B047BC-7598-E5FF-6855-E64164636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549" y="2671726"/>
            <a:ext cx="3512586" cy="30405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F97DAC0-7483-99B2-339D-06F25ED68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840" y="2671726"/>
            <a:ext cx="3512586" cy="304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8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D869-57E7-6631-5B16-2C9FE5554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87" y="340660"/>
            <a:ext cx="8260145" cy="690282"/>
          </a:xfrm>
        </p:spPr>
        <p:txBody>
          <a:bodyPr/>
          <a:lstStyle/>
          <a:p>
            <a:pPr algn="ctr"/>
            <a:r>
              <a:rPr lang="en-US" sz="2800" b="1" u="sng" dirty="0"/>
              <a:t>Market Trends and Historical Pricing</a:t>
            </a:r>
            <a:endParaRPr lang="en-IN" sz="28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7FCF8-78C6-2013-4ABA-1EABEB24C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430" y="1656432"/>
            <a:ext cx="6639139" cy="451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50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E4A7-0055-F7A4-50DB-595957D64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255" y="390948"/>
            <a:ext cx="8432577" cy="663411"/>
          </a:xfrm>
        </p:spPr>
        <p:txBody>
          <a:bodyPr/>
          <a:lstStyle/>
          <a:p>
            <a:pPr algn="ctr"/>
            <a:r>
              <a:rPr lang="en-IN" sz="2800" b="1" u="sng" dirty="0"/>
              <a:t>Customer Preferences and Amenities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A9BFE-1F5E-276D-A85C-F4D1374A3463}"/>
              </a:ext>
            </a:extLst>
          </p:cNvPr>
          <p:cNvSpPr txBox="1"/>
          <p:nvPr/>
        </p:nvSpPr>
        <p:spPr>
          <a:xfrm>
            <a:off x="1047326" y="1847536"/>
            <a:ext cx="28901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Overall Quality vs Sale Price</a:t>
            </a:r>
            <a:endParaRPr lang="en-IN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9B7AC0-9BA6-E57A-D155-D73E1F4AC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09" y="2451563"/>
            <a:ext cx="3512586" cy="304057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C4C0CE9-31A6-22D1-064E-5AFE50A97BD3}"/>
              </a:ext>
            </a:extLst>
          </p:cNvPr>
          <p:cNvSpPr txBox="1">
            <a:spLocks/>
          </p:cNvSpPr>
          <p:nvPr/>
        </p:nvSpPr>
        <p:spPr>
          <a:xfrm>
            <a:off x="5014518" y="1847537"/>
            <a:ext cx="3898457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b="1" dirty="0"/>
              <a:t>Basement Area vs Sale Price</a:t>
            </a:r>
            <a:endParaRPr lang="en-IN" sz="1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7CDC91-0892-E81E-4961-47013545A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502" y="2451563"/>
            <a:ext cx="3512586" cy="304057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BD6B835-49DD-564B-FBA7-629B91E98C8E}"/>
              </a:ext>
            </a:extLst>
          </p:cNvPr>
          <p:cNvSpPr txBox="1">
            <a:spLocks/>
          </p:cNvSpPr>
          <p:nvPr/>
        </p:nvSpPr>
        <p:spPr>
          <a:xfrm>
            <a:off x="8483186" y="1856590"/>
            <a:ext cx="9404723" cy="3148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b="1" dirty="0"/>
              <a:t>Pool Area vs Sale Price (if available)</a:t>
            </a:r>
            <a:br>
              <a:rPr lang="en-US" sz="1400" b="1" dirty="0"/>
            </a:br>
            <a:endParaRPr lang="en-IN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F223C4-5BA7-E4BE-BCC1-143008871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539" y="2451563"/>
            <a:ext cx="3512586" cy="304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11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61B9F2-9052-EF5A-B4D4-8E344D63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983" y="2455254"/>
            <a:ext cx="5078033" cy="1400530"/>
          </a:xfrm>
        </p:spPr>
        <p:txBody>
          <a:bodyPr/>
          <a:lstStyle/>
          <a:p>
            <a:pPr algn="ctr"/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3299246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163</TotalTime>
  <Words>497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Unicode MS</vt:lpstr>
      <vt:lpstr>Century Gothic</vt:lpstr>
      <vt:lpstr>Wingdings 3</vt:lpstr>
      <vt:lpstr>Ion</vt:lpstr>
      <vt:lpstr>Housing Market Analysis(EDA)</vt:lpstr>
      <vt:lpstr>Tasks</vt:lpstr>
      <vt:lpstr>Import and Loading the Data</vt:lpstr>
      <vt:lpstr>Import and Loading the Data</vt:lpstr>
      <vt:lpstr> Cleaning the Data </vt:lpstr>
      <vt:lpstr>Cleaning the Data </vt:lpstr>
      <vt:lpstr>Univariate Analysis</vt:lpstr>
      <vt:lpstr>Feature Engineering</vt:lpstr>
      <vt:lpstr>Living Area vs Sale Price (Scatter Plot)</vt:lpstr>
      <vt:lpstr>Feature Engineering and Size Impact </vt:lpstr>
      <vt:lpstr>Market Trends and Historical Pricing</vt:lpstr>
      <vt:lpstr>Customer Preferences and Amenities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Harpalsinh Mahida</dc:creator>
  <cp:lastModifiedBy>Harpalsinh Mahida</cp:lastModifiedBy>
  <cp:revision>3</cp:revision>
  <dcterms:created xsi:type="dcterms:W3CDTF">2026-01-11T16:55:21Z</dcterms:created>
  <dcterms:modified xsi:type="dcterms:W3CDTF">2026-01-13T09:00:08Z</dcterms:modified>
</cp:coreProperties>
</file>